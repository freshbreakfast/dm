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notesMasterIdLst>
    <p:notesMasterId r:id="rId3"/>
  </p:notesMasterIdLst>
  <p:sldIdLst>
    <p:sldId id="277" r:id="rId2"/>
  </p:sldIdLst>
  <p:sldSz cx="10691813" cy="1511935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2207"/>
    <a:srgbClr val="FFF6DF"/>
    <a:srgbClr val="FBC332"/>
    <a:srgbClr val="FE902B"/>
    <a:srgbClr val="FFBF7B"/>
    <a:srgbClr val="FFEA9F"/>
    <a:srgbClr val="BEDB9B"/>
    <a:srgbClr val="6D9D4A"/>
    <a:srgbClr val="76B64A"/>
    <a:srgbClr val="609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36" d="100"/>
          <a:sy n="36" d="100"/>
        </p:scale>
        <p:origin x="2611" y="29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21" cy="502234"/>
          </a:xfrm>
          <a:prstGeom prst="rect">
            <a:avLst/>
          </a:prstGeom>
        </p:spPr>
        <p:txBody>
          <a:bodyPr vert="horz" lIns="87309" tIns="43655" rIns="87309" bIns="43655" rtlCol="0"/>
          <a:lstStyle>
            <a:lvl1pPr algn="l">
              <a:defRPr sz="11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901142" y="0"/>
            <a:ext cx="2985520" cy="502234"/>
          </a:xfrm>
          <a:prstGeom prst="rect">
            <a:avLst/>
          </a:prstGeom>
        </p:spPr>
        <p:txBody>
          <a:bodyPr vert="horz" lIns="87309" tIns="43655" rIns="87309" bIns="43655" rtlCol="0"/>
          <a:lstStyle>
            <a:lvl1pPr algn="r">
              <a:defRPr sz="1100"/>
            </a:lvl1pPr>
          </a:lstStyle>
          <a:p>
            <a:fld id="{9B9D69E1-6338-4869-846A-5A73214A968F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1252538"/>
            <a:ext cx="23891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309" tIns="43655" rIns="87309" bIns="43655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8969" y="4820828"/>
            <a:ext cx="5510229" cy="3946118"/>
          </a:xfrm>
          <a:prstGeom prst="rect">
            <a:avLst/>
          </a:prstGeom>
        </p:spPr>
        <p:txBody>
          <a:bodyPr vert="horz" lIns="87309" tIns="43655" rIns="87309" bIns="43655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516479"/>
            <a:ext cx="2985521" cy="502234"/>
          </a:xfrm>
          <a:prstGeom prst="rect">
            <a:avLst/>
          </a:prstGeom>
        </p:spPr>
        <p:txBody>
          <a:bodyPr vert="horz" lIns="87309" tIns="43655" rIns="87309" bIns="43655" rtlCol="0" anchor="b"/>
          <a:lstStyle>
            <a:lvl1pPr algn="l">
              <a:defRPr sz="11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901142" y="9516479"/>
            <a:ext cx="2985520" cy="502234"/>
          </a:xfrm>
          <a:prstGeom prst="rect">
            <a:avLst/>
          </a:prstGeom>
        </p:spPr>
        <p:txBody>
          <a:bodyPr vert="horz" lIns="87309" tIns="43655" rIns="87309" bIns="43655" rtlCol="0" anchor="b"/>
          <a:lstStyle>
            <a:lvl1pPr algn="r">
              <a:defRPr sz="1100"/>
            </a:lvl1pPr>
          </a:lstStyle>
          <a:p>
            <a:fld id="{13D5CD3E-B0F6-4642-A2C2-136D17EC3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93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1pPr>
    <a:lvl2pPr marL="703846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2pPr>
    <a:lvl3pPr marL="1407692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3pPr>
    <a:lvl4pPr marL="2111538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4pPr>
    <a:lvl5pPr marL="2815383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5pPr>
    <a:lvl6pPr marL="3519230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6pPr>
    <a:lvl7pPr marL="4223076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7pPr>
    <a:lvl8pPr marL="4926921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8pPr>
    <a:lvl9pPr marL="5630768" algn="l" defTabSz="1407692" rtl="0" eaLnBrk="1" latinLnBrk="0" hangingPunct="1">
      <a:defRPr sz="18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0CEFB-6687-16EE-110C-13DE712D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A6F2E8-134F-A8D3-B104-DFCAA40D2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9488" y="1252538"/>
            <a:ext cx="2389187" cy="3379787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57FC78-00C7-A48F-9746-5B1C1A8CA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D4FF05-51D8-087E-8442-3417A1005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5CD3E-B0F6-4642-A2C2-136D17EC39E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230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91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65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96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42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64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93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1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61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86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88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8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5AB3B-1FA4-497D-9B51-7214B59C989B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E5910-7326-4F0C-AC68-4DC71838BB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67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A534F-8244-F5D2-E6B2-5A3E8CCB9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10DEAD9-9AF1-3CC0-CFCD-F7E47F93F8C1}"/>
              </a:ext>
            </a:extLst>
          </p:cNvPr>
          <p:cNvSpPr/>
          <p:nvPr/>
        </p:nvSpPr>
        <p:spPr>
          <a:xfrm>
            <a:off x="748147" y="3593413"/>
            <a:ext cx="9215035" cy="3312000"/>
          </a:xfrm>
          <a:prstGeom prst="roundRect">
            <a:avLst/>
          </a:prstGeom>
          <a:solidFill>
            <a:srgbClr val="BEDB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7000"/>
              </a:lnSpc>
            </a:pPr>
            <a:endParaRPr lang="en-US" altLang="zh-TW" sz="3200" b="1" dirty="0">
              <a:solidFill>
                <a:srgbClr val="492207"/>
              </a:solidFill>
              <a:latin typeface="Zen Maru Gothic" pitchFamily="2" charset="-120"/>
              <a:ea typeface="Zen Maru Gothic" pitchFamily="2" charset="-120"/>
            </a:endParaRPr>
          </a:p>
          <a:p>
            <a:pPr>
              <a:lnSpc>
                <a:spcPts val="5000"/>
              </a:lnSpc>
            </a:pPr>
            <a:r>
              <a:rPr lang="en-US" altLang="zh-TW" sz="3200" b="1" dirty="0">
                <a:solidFill>
                  <a:srgbClr val="492207"/>
                </a:solidFill>
                <a:latin typeface="Zen Maru Gothic" pitchFamily="2" charset="-120"/>
                <a:ea typeface="Zen Maru Gothic" pitchFamily="2" charset="-120"/>
              </a:rPr>
              <a:t>			</a:t>
            </a:r>
            <a:endParaRPr lang="zh-TW" altLang="en-US" sz="3200" b="1" strike="dblStrike" spc="300" dirty="0">
              <a:solidFill>
                <a:srgbClr val="492207"/>
              </a:solidFill>
              <a:latin typeface="Zen Maru Gothic" pitchFamily="2" charset="-120"/>
              <a:ea typeface="Zen Maru Gothic" pitchFamily="2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C073995-0F3A-D5B2-1A67-00C435A9B144}"/>
              </a:ext>
            </a:extLst>
          </p:cNvPr>
          <p:cNvSpPr/>
          <p:nvPr/>
        </p:nvSpPr>
        <p:spPr>
          <a:xfrm>
            <a:off x="1351961" y="3814634"/>
            <a:ext cx="7962159" cy="876597"/>
          </a:xfrm>
          <a:prstGeom prst="roundRect">
            <a:avLst/>
          </a:prstGeom>
          <a:solidFill>
            <a:srgbClr val="6D9D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00"/>
              </a:lnSpc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　　香醇無糖豆漿 </a:t>
            </a:r>
            <a:r>
              <a:rPr lang="en-US" altLang="zh-TW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– </a:t>
            </a:r>
            <a:r>
              <a:rPr lang="zh-TW" altLang="en-US" sz="3600" b="1" dirty="0">
                <a:solidFill>
                  <a:schemeClr val="bg1"/>
                </a:solidFill>
                <a:latin typeface="Zen Maru Gothic Medium" pitchFamily="2" charset="-120"/>
                <a:ea typeface="Zen Maru Gothic Medium" pitchFamily="2" charset="-120"/>
              </a:rPr>
              <a:t>健身</a:t>
            </a: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好夥伴 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2077B05A-E52F-B287-93BE-96C47E60B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764" y="4000610"/>
            <a:ext cx="677518" cy="556724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44115642-E3E2-BE0E-B3A0-6EF4D25F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564" y="4820428"/>
            <a:ext cx="588206" cy="1029361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3CD6F3D0-96E7-2DC8-D4A3-1D6155094807}"/>
              </a:ext>
            </a:extLst>
          </p:cNvPr>
          <p:cNvSpPr/>
          <p:nvPr/>
        </p:nvSpPr>
        <p:spPr>
          <a:xfrm>
            <a:off x="748147" y="6976495"/>
            <a:ext cx="9215035" cy="3312000"/>
          </a:xfrm>
          <a:prstGeom prst="roundRect">
            <a:avLst/>
          </a:prstGeom>
          <a:solidFill>
            <a:srgbClr val="FFEA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7000"/>
              </a:lnSpc>
            </a:pPr>
            <a:endParaRPr lang="en-US" altLang="zh-TW" sz="2800" b="1" dirty="0">
              <a:solidFill>
                <a:srgbClr val="492207"/>
              </a:solidFill>
              <a:latin typeface="Zen Maru Gothic" pitchFamily="2" charset="-120"/>
              <a:ea typeface="Zen Maru Gothic" pitchFamily="2" charset="-120"/>
            </a:endParaRPr>
          </a:p>
          <a:p>
            <a:pPr>
              <a:lnSpc>
                <a:spcPts val="5000"/>
              </a:lnSpc>
            </a:pPr>
            <a:r>
              <a:rPr lang="en-US" altLang="zh-TW" sz="2800" b="1" spc="300" dirty="0">
                <a:solidFill>
                  <a:srgbClr val="492207"/>
                </a:solidFill>
                <a:latin typeface="Zen Maru Gothic" pitchFamily="2" charset="-120"/>
                <a:ea typeface="Zen Maru Gothic" pitchFamily="2" charset="-120"/>
              </a:rPr>
              <a:t>			</a:t>
            </a:r>
            <a:endParaRPr lang="zh-TW" altLang="en-US" sz="3200" b="1" strike="dblStrike" spc="300" dirty="0">
              <a:solidFill>
                <a:srgbClr val="492207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D1B36E93-FBF3-8363-3972-CD0974824173}"/>
              </a:ext>
            </a:extLst>
          </p:cNvPr>
          <p:cNvSpPr/>
          <p:nvPr/>
        </p:nvSpPr>
        <p:spPr>
          <a:xfrm>
            <a:off x="1351960" y="7152623"/>
            <a:ext cx="7962159" cy="878400"/>
          </a:xfrm>
          <a:prstGeom prst="roundRect">
            <a:avLst/>
          </a:prstGeom>
          <a:solidFill>
            <a:srgbClr val="FBC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00"/>
              </a:lnSpc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　　高纖燕麥豆漿 </a:t>
            </a:r>
            <a:r>
              <a:rPr lang="en-US" altLang="zh-TW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–</a:t>
            </a: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 高纖能量加倍</a:t>
            </a:r>
            <a:r>
              <a:rPr lang="en-US" altLang="zh-TW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 </a:t>
            </a: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2F64C641-C88B-9E8F-BFC3-938831807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056" y="7297403"/>
            <a:ext cx="726292" cy="620005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D1F12CB2-E03A-4681-737B-8D41460B6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246" y="8140963"/>
            <a:ext cx="537919" cy="1171498"/>
          </a:xfrm>
          <a:prstGeom prst="rect">
            <a:avLst/>
          </a:prstGeom>
        </p:spPr>
      </p:pic>
      <p:pic>
        <p:nvPicPr>
          <p:cNvPr id="42" name="圖片 41" descr="一張含有 文字, 標籤, 食物 的圖片&#10;&#10;AI 產生的內容可能不正確。">
            <a:extLst>
              <a:ext uri="{FF2B5EF4-FFF2-40B4-BE49-F238E27FC236}">
                <a16:creationId xmlns:a16="http://schemas.microsoft.com/office/drawing/2014/main" id="{B1A773EE-2B68-5DC6-7990-B09685F19A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80" y="241830"/>
            <a:ext cx="2335768" cy="3830991"/>
          </a:xfrm>
          <a:prstGeom prst="rect">
            <a:avLst/>
          </a:prstGeom>
        </p:spPr>
      </p:pic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76892108-3352-CD41-749D-DEA075B44B8A}"/>
              </a:ext>
            </a:extLst>
          </p:cNvPr>
          <p:cNvSpPr/>
          <p:nvPr/>
        </p:nvSpPr>
        <p:spPr>
          <a:xfrm>
            <a:off x="736220" y="10380191"/>
            <a:ext cx="9215035" cy="3312000"/>
          </a:xfrm>
          <a:prstGeom prst="roundRect">
            <a:avLst/>
          </a:prstGeom>
          <a:solidFill>
            <a:srgbClr val="FFBF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7000"/>
              </a:lnSpc>
            </a:pPr>
            <a:r>
              <a:rPr lang="zh-TW" altLang="en-US" sz="2800" b="1" dirty="0">
                <a:solidFill>
                  <a:srgbClr val="492207"/>
                </a:solidFill>
                <a:latin typeface="Zen Maru Gothic" pitchFamily="2" charset="-120"/>
                <a:ea typeface="Zen Maru Gothic" pitchFamily="2" charset="-120"/>
              </a:rPr>
              <a:t>             </a:t>
            </a:r>
            <a:r>
              <a:rPr lang="en-US" altLang="zh-TW" sz="2800" b="1" dirty="0">
                <a:solidFill>
                  <a:srgbClr val="492207"/>
                </a:solidFill>
                <a:latin typeface="Zen Maru Gothic" pitchFamily="2" charset="-120"/>
                <a:ea typeface="Zen Maru Gothic" pitchFamily="2" charset="-120"/>
              </a:rPr>
              <a:t>                     </a:t>
            </a:r>
          </a:p>
          <a:p>
            <a:pPr>
              <a:lnSpc>
                <a:spcPts val="5000"/>
              </a:lnSpc>
            </a:pPr>
            <a:r>
              <a:rPr lang="en-US" altLang="zh-TW" sz="2800" b="1" spc="300" dirty="0">
                <a:solidFill>
                  <a:srgbClr val="492207"/>
                </a:solidFill>
                <a:latin typeface="Zen Maru Gothic" pitchFamily="2" charset="-120"/>
                <a:ea typeface="Zen Maru Gothic" pitchFamily="2" charset="-120"/>
              </a:rPr>
              <a:t>			</a:t>
            </a:r>
            <a:endParaRPr lang="zh-TW" altLang="en-US" sz="2800" b="1" dirty="0">
              <a:solidFill>
                <a:srgbClr val="492207"/>
              </a:solidFill>
              <a:latin typeface="Zen Maru Gothic" pitchFamily="2" charset="-120"/>
              <a:ea typeface="Zen Maru Gothic" pitchFamily="2" charset="-12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C91C956-A511-6124-9E46-20803FB4E349}"/>
              </a:ext>
            </a:extLst>
          </p:cNvPr>
          <p:cNvSpPr/>
          <p:nvPr/>
        </p:nvSpPr>
        <p:spPr>
          <a:xfrm>
            <a:off x="1351961" y="10604486"/>
            <a:ext cx="7962158" cy="878400"/>
          </a:xfrm>
          <a:prstGeom prst="roundRect">
            <a:avLst/>
          </a:prstGeom>
          <a:solidFill>
            <a:srgbClr val="FE9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00"/>
              </a:lnSpc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Zen Maru Gothic Medium" pitchFamily="2" charset="-120"/>
                <a:ea typeface="Zen Maru Gothic Medium" pitchFamily="2" charset="-120"/>
              </a:rPr>
              <a:t>　　</a:t>
            </a: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金</a:t>
            </a:r>
            <a:r>
              <a:rPr lang="zh-TW" altLang="en-US" sz="38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</a:t>
            </a: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南瓜豆漿 </a:t>
            </a:r>
            <a:r>
              <a:rPr lang="en-US" altLang="zh-TW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- </a:t>
            </a:r>
            <a:r>
              <a:rPr lang="zh-TW" altLang="en-US" sz="3600" b="1" dirty="0">
                <a:solidFill>
                  <a:schemeClr val="bg1"/>
                </a:solidFill>
                <a:latin typeface="Zen Maru Gothic Black" pitchFamily="2" charset="-120"/>
                <a:ea typeface="Zen Maru Gothic Black" pitchFamily="2" charset="-120"/>
              </a:rPr>
              <a:t>養身甜蜜新寵</a:t>
            </a:r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E3163228-2502-02B7-E7D1-49C09A6F2C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934" y="10769644"/>
            <a:ext cx="563602" cy="489687"/>
          </a:xfrm>
          <a:prstGeom prst="rect">
            <a:avLst/>
          </a:prstGeom>
        </p:spPr>
      </p:pic>
      <p:sp>
        <p:nvSpPr>
          <p:cNvPr id="48" name="文字方塊 47">
            <a:extLst>
              <a:ext uri="{FF2B5EF4-FFF2-40B4-BE49-F238E27FC236}">
                <a16:creationId xmlns:a16="http://schemas.microsoft.com/office/drawing/2014/main" id="{8C8EA30D-42E6-B524-842D-9B850B4BABFE}"/>
              </a:ext>
            </a:extLst>
          </p:cNvPr>
          <p:cNvSpPr txBox="1"/>
          <p:nvPr/>
        </p:nvSpPr>
        <p:spPr>
          <a:xfrm>
            <a:off x="2483152" y="13908850"/>
            <a:ext cx="5850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/>
              <a:t>📍</a:t>
            </a:r>
            <a:r>
              <a:rPr lang="zh-TW" altLang="en-US" sz="2400" b="1" dirty="0">
                <a:latin typeface="Zen Maru Gothic Medium" pitchFamily="2" charset="-120"/>
                <a:ea typeface="Zen Maru Gothic Medium" pitchFamily="2" charset="-120"/>
              </a:rPr>
              <a:t>購買方式 </a:t>
            </a:r>
            <a:r>
              <a:rPr lang="en-US" altLang="zh-TW" sz="2400" b="1" dirty="0">
                <a:latin typeface="Zen Maru Gothic Medium" pitchFamily="2" charset="-120"/>
                <a:ea typeface="Zen Maru Gothic Medium" pitchFamily="2" charset="-120"/>
              </a:rPr>
              <a:t>Line </a:t>
            </a:r>
            <a:r>
              <a:rPr lang="zh-TW" altLang="en-US" sz="2400" b="1" dirty="0">
                <a:latin typeface="Zen Maru Gothic Medium" pitchFamily="2" charset="-120"/>
                <a:ea typeface="Zen Maru Gothic Medium" pitchFamily="2" charset="-120"/>
              </a:rPr>
              <a:t>官方帳號 </a:t>
            </a:r>
            <a:r>
              <a:rPr lang="en-US" altLang="zh-TW" sz="2400" b="1" dirty="0">
                <a:latin typeface="Zen Maru Gothic Medium" pitchFamily="2" charset="-120"/>
                <a:ea typeface="Zen Maru Gothic Medium" pitchFamily="2" charset="-120"/>
              </a:rPr>
              <a:t>:</a:t>
            </a:r>
            <a:r>
              <a:rPr lang="zh-TW" altLang="en-US" sz="2400" b="1" dirty="0">
                <a:latin typeface="Zen Maru Gothic Medium" pitchFamily="2" charset="-120"/>
                <a:ea typeface="Zen Maru Gothic Medium" pitchFamily="2" charset="-120"/>
              </a:rPr>
              <a:t> </a:t>
            </a:r>
            <a:r>
              <a:rPr lang="en-US" altLang="zh-TW" sz="2400" dirty="0">
                <a:latin typeface="Zen Maru Gothic Medium" pitchFamily="2" charset="-120"/>
                <a:ea typeface="Zen Maru Gothic Medium" pitchFamily="2" charset="-120"/>
              </a:rPr>
              <a:t>@567ncwhd</a:t>
            </a:r>
            <a:endParaRPr lang="zh-TW" altLang="en-US" sz="2400" dirty="0">
              <a:latin typeface="Zen Maru Gothic Medium" pitchFamily="2" charset="-120"/>
              <a:ea typeface="Zen Maru Gothic Medium" pitchFamily="2" charset="-120"/>
            </a:endParaRP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249B1821-6B8F-3AB0-F3B3-1974A29A47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8642" y="11580129"/>
            <a:ext cx="582187" cy="103745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93E2E64-096B-ABCA-4442-CCC8C306F7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 flipH="1" flipV="1">
            <a:off x="8091836" y="8179769"/>
            <a:ext cx="1848314" cy="16929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圖片 5" descr="一張含有 字型, 圖形, 標誌, 符號 的圖片&#10;&#10;AI 產生的內容可能不正確。">
            <a:extLst>
              <a:ext uri="{FF2B5EF4-FFF2-40B4-BE49-F238E27FC236}">
                <a16:creationId xmlns:a16="http://schemas.microsoft.com/office/drawing/2014/main" id="{9E280DC9-0891-BD3F-1F81-3FFDC628AA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72" y="13542030"/>
            <a:ext cx="1731116" cy="1200663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E708D15-D357-F515-0A2A-9807F13442CF}"/>
              </a:ext>
            </a:extLst>
          </p:cNvPr>
          <p:cNvSpPr/>
          <p:nvPr/>
        </p:nvSpPr>
        <p:spPr>
          <a:xfrm>
            <a:off x="8222174" y="13314040"/>
            <a:ext cx="1587640" cy="145663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8" name="圖片 17" descr="一張含有 綠色, 圖形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A417E523-D159-D133-73D4-FB67044DC47D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60" y="13374251"/>
            <a:ext cx="1450067" cy="1294437"/>
          </a:xfrm>
          <a:prstGeom prst="rect">
            <a:avLst/>
          </a:prstGeom>
        </p:spPr>
      </p:pic>
      <p:sp>
        <p:nvSpPr>
          <p:cNvPr id="11" name="書卷: 水平 10">
            <a:extLst>
              <a:ext uri="{FF2B5EF4-FFF2-40B4-BE49-F238E27FC236}">
                <a16:creationId xmlns:a16="http://schemas.microsoft.com/office/drawing/2014/main" id="{A43F5C91-BF59-2ECD-3C75-5C382BBB1EBA}"/>
              </a:ext>
            </a:extLst>
          </p:cNvPr>
          <p:cNvSpPr/>
          <p:nvPr/>
        </p:nvSpPr>
        <p:spPr>
          <a:xfrm>
            <a:off x="2648718" y="1949977"/>
            <a:ext cx="5520782" cy="1554702"/>
          </a:xfrm>
          <a:prstGeom prst="horizontalScroll">
            <a:avLst/>
          </a:prstGeom>
          <a:solidFill>
            <a:srgbClr val="FFF6DF"/>
          </a:solidFill>
          <a:ln w="28575">
            <a:solidFill>
              <a:srgbClr val="49220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1) 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新品上市，享豆漿 </a:t>
            </a:r>
            <a:r>
              <a:rPr lang="zh-TW" altLang="en-US" b="1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嚐鮮價</a:t>
            </a:r>
            <a:r>
              <a:rPr lang="en-US" altLang="zh-TW" b="1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$90 </a:t>
            </a:r>
            <a:r>
              <a:rPr lang="zh-TW" altLang="en-US" b="1" dirty="0">
                <a:solidFill>
                  <a:srgbClr val="492207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及 </a:t>
            </a:r>
            <a:r>
              <a:rPr lang="zh-TW" altLang="en-US" b="1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免費試喝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。</a:t>
            </a:r>
          </a:p>
          <a:p>
            <a:pPr>
              <a:lnSpc>
                <a:spcPts val="3000"/>
              </a:lnSpc>
            </a:pP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 2) </a:t>
            </a:r>
            <a:r>
              <a:rPr lang="zh-TW" altLang="en-US" b="1" dirty="0">
                <a:latin typeface="Zen Maru Gothic Medium" pitchFamily="2" charset="-120"/>
                <a:ea typeface="Zen Maru Gothic Medium" pitchFamily="2" charset="-120"/>
              </a:rPr>
              <a:t>滿 </a:t>
            </a:r>
            <a:r>
              <a:rPr lang="en-US" altLang="zh-TW" b="1" dirty="0">
                <a:solidFill>
                  <a:srgbClr val="492207"/>
                </a:solidFill>
                <a:latin typeface="Zen Maru Gothic Medium" pitchFamily="2" charset="-120"/>
                <a:ea typeface="Zen Maru Gothic Medium" pitchFamily="2" charset="-120"/>
              </a:rPr>
              <a:t>500</a:t>
            </a:r>
            <a:r>
              <a:rPr lang="zh-TW" altLang="en-US" b="1" dirty="0">
                <a:solidFill>
                  <a:srgbClr val="492207"/>
                </a:solidFill>
                <a:latin typeface="Zen Maru Gothic Medium" pitchFamily="2" charset="-120"/>
                <a:ea typeface="Zen Maru Gothic Medium" pitchFamily="2" charset="-120"/>
              </a:rPr>
              <a:t> </a:t>
            </a:r>
            <a:r>
              <a:rPr lang="zh-TW" altLang="en-US" b="1" dirty="0">
                <a:latin typeface="Zen Maru Gothic Medium" pitchFamily="2" charset="-120"/>
                <a:ea typeface="Zen Maru Gothic Medium" pitchFamily="2" charset="-120"/>
              </a:rPr>
              <a:t>再</a:t>
            </a:r>
            <a:r>
              <a:rPr lang="zh-TW" altLang="en-US" b="1" dirty="0">
                <a:solidFill>
                  <a:srgbClr val="FF0000"/>
                </a:solidFill>
                <a:latin typeface="Zen Maru Gothic Medium" pitchFamily="2" charset="-120"/>
                <a:ea typeface="Zen Maru Gothic Medium" pitchFamily="2" charset="-120"/>
              </a:rPr>
              <a:t>贈</a:t>
            </a:r>
            <a:r>
              <a:rPr lang="zh-TW" altLang="en-US" b="1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蛋餅皮</a:t>
            </a: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包 </a:t>
            </a: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(10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片</a:t>
            </a: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)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，嚐鮮更超值 </a:t>
            </a:r>
            <a:r>
              <a:rPr lang="en-US" altLang="zh-TW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!        </a:t>
            </a:r>
            <a:r>
              <a:rPr lang="zh-TW" altLang="en-US" b="1"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     </a:t>
            </a:r>
          </a:p>
        </p:txBody>
      </p:sp>
      <p:sp>
        <p:nvSpPr>
          <p:cNvPr id="19" name="星形: 十六角 18">
            <a:extLst>
              <a:ext uri="{FF2B5EF4-FFF2-40B4-BE49-F238E27FC236}">
                <a16:creationId xmlns:a16="http://schemas.microsoft.com/office/drawing/2014/main" id="{E394E859-1A25-73AA-2E05-AE0118C2F565}"/>
              </a:ext>
            </a:extLst>
          </p:cNvPr>
          <p:cNvSpPr/>
          <p:nvPr/>
        </p:nvSpPr>
        <p:spPr>
          <a:xfrm rot="1128171">
            <a:off x="7677864" y="1147112"/>
            <a:ext cx="2676258" cy="1459835"/>
          </a:xfrm>
          <a:prstGeom prst="star16">
            <a:avLst>
              <a:gd name="adj" fmla="val 39533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rgbClr val="6A310A"/>
                </a:solidFill>
                <a:latin typeface="Zen Maru Gothic" pitchFamily="2" charset="-120"/>
                <a:ea typeface="Zen Maru Gothic" pitchFamily="2" charset="-120"/>
                <a:cs typeface="ADLaM Display" panose="02010000000000000000" pitchFamily="2" charset="0"/>
              </a:rPr>
              <a:t>11/1 </a:t>
            </a:r>
            <a:r>
              <a:rPr lang="zh-TW" altLang="en-US" sz="3200" b="1" dirty="0">
                <a:solidFill>
                  <a:srgbClr val="6A310A"/>
                </a:solidFill>
                <a:latin typeface="Zen Maru Gothic" pitchFamily="2" charset="-120"/>
                <a:ea typeface="Zen Maru Gothic" pitchFamily="2" charset="-120"/>
                <a:cs typeface="ADLaM Display" panose="02010000000000000000" pitchFamily="2" charset="0"/>
              </a:rPr>
              <a:t>～    </a:t>
            </a:r>
            <a:r>
              <a:rPr lang="en-US" altLang="zh-TW" sz="3200" b="1" dirty="0">
                <a:solidFill>
                  <a:srgbClr val="6A310A"/>
                </a:solidFill>
                <a:latin typeface="Zen Maru Gothic" pitchFamily="2" charset="-120"/>
                <a:ea typeface="Zen Maru Gothic" pitchFamily="2" charset="-120"/>
                <a:cs typeface="ADLaM Display" panose="02010000000000000000" pitchFamily="2" charset="0"/>
              </a:rPr>
              <a:t>12/31</a:t>
            </a:r>
            <a:endParaRPr lang="zh-TW" altLang="en-US" sz="3200" b="1" dirty="0">
              <a:solidFill>
                <a:srgbClr val="6A310A"/>
              </a:solidFill>
              <a:latin typeface="Zen Maru Gothic" pitchFamily="2" charset="-120"/>
              <a:ea typeface="Zen Maru Gothic" pitchFamily="2" charset="-120"/>
              <a:cs typeface="ADLaM Display" panose="02010000000000000000" pitchFamily="2" charset="0"/>
            </a:endParaRPr>
          </a:p>
        </p:txBody>
      </p:sp>
      <p:pic>
        <p:nvPicPr>
          <p:cNvPr id="2" name="圖片 1" descr="一張含有 蔬菜, 莢豆, 豆類, 菜豆 的圖片&#10;&#10;AI 產生的內容可能不正確。">
            <a:extLst>
              <a:ext uri="{FF2B5EF4-FFF2-40B4-BE49-F238E27FC236}">
                <a16:creationId xmlns:a16="http://schemas.microsoft.com/office/drawing/2014/main" id="{1D35650D-8C40-E09F-2572-D8A0141161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174" y="4781658"/>
            <a:ext cx="1668569" cy="19026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38CF71C-75CD-BA07-14DD-8431BDFA30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08523" y="11525937"/>
            <a:ext cx="1781755" cy="18620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0EB051-BAF1-49A3-8526-9124B21056EF}"/>
              </a:ext>
            </a:extLst>
          </p:cNvPr>
          <p:cNvSpPr txBox="1"/>
          <p:nvPr/>
        </p:nvSpPr>
        <p:spPr>
          <a:xfrm>
            <a:off x="2357076" y="4724265"/>
            <a:ext cx="5741044" cy="1947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豐富植物性蛋白及微量元素</a:t>
            </a:r>
            <a:endParaRPr kumimoji="0" lang="en-US" altLang="zh-TW" sz="3200" b="1" i="0" u="none" strike="noStrike" kern="1200" cap="none" spc="300" normalizeH="0" baseline="0" noProof="0" dirty="0">
              <a:ln>
                <a:noFill/>
              </a:ln>
              <a:solidFill>
                <a:srgbClr val="492207"/>
              </a:solidFill>
              <a:effectLst/>
              <a:uLnTx/>
              <a:uFillTx/>
              <a:latin typeface="Zen Maru Gothic" pitchFamily="2" charset="-120"/>
              <a:ea typeface="Zen Maru Gothic" pitchFamily="2" charset="-12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大豆皂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苷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異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  <a:cs typeface="+mn-cs"/>
              </a:rPr>
              <a:t>黃酮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卵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  <a:cs typeface="+mn-cs"/>
              </a:rPr>
              <a:t>磷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脂等</a:t>
            </a:r>
            <a:b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</a:b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優惠價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$70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 </a:t>
            </a:r>
            <a:r>
              <a:rPr kumimoji="0" lang="zh-TW" altLang="en-US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原價</a:t>
            </a:r>
            <a:r>
              <a:rPr kumimoji="0" lang="en-US" altLang="zh-TW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$80</a:t>
            </a:r>
            <a:endParaRPr kumimoji="0" lang="zh-TW" altLang="en-US" sz="3200" b="1" i="0" u="none" strike="dblStrike" kern="1200" cap="none" spc="300" normalizeH="0" baseline="0" noProof="0" dirty="0">
              <a:ln>
                <a:noFill/>
              </a:ln>
              <a:solidFill>
                <a:srgbClr val="492207"/>
              </a:solidFill>
              <a:effectLst/>
              <a:uLnTx/>
              <a:uFillTx/>
              <a:latin typeface="Zen Maru Gothic" pitchFamily="2" charset="-120"/>
              <a:ea typeface="Zen Maru Gothic" pitchFamily="2" charset="-120"/>
              <a:cs typeface="+mn-c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1B93487-2D44-FE57-4363-90B511C6166A}"/>
              </a:ext>
            </a:extLst>
          </p:cNvPr>
          <p:cNvSpPr txBox="1"/>
          <p:nvPr/>
        </p:nvSpPr>
        <p:spPr>
          <a:xfrm>
            <a:off x="2250829" y="8052138"/>
            <a:ext cx="5857694" cy="1947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" pitchFamily="2" charset="-120"/>
                <a:ea typeface="Zen Maru Gothic" pitchFamily="2" charset="-120"/>
                <a:cs typeface="+mn-cs"/>
              </a:rPr>
              <a:t>低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糖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含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β-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葡聚糖增加飽足感</a:t>
            </a:r>
            <a:endParaRPr kumimoji="0" lang="en-US" altLang="zh-TW" sz="3200" b="1" i="0" u="none" strike="noStrike" kern="1200" cap="none" spc="300" normalizeH="0" baseline="0" noProof="0" dirty="0">
              <a:ln>
                <a:noFill/>
              </a:ln>
              <a:solidFill>
                <a:srgbClr val="492207"/>
              </a:solidFill>
              <a:effectLst/>
              <a:uLnTx/>
              <a:uFillTx/>
              <a:latin typeface="Zen Maru Gothic Medium" pitchFamily="2" charset="-120"/>
              <a:ea typeface="Zen Maru Gothic Medium" pitchFamily="2" charset="-12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高膳食纖維</a:t>
            </a:r>
            <a:r>
              <a:rPr lang="en-US" altLang="zh-TW" sz="3200" b="1" spc="300" dirty="0">
                <a:solidFill>
                  <a:srgbClr val="492207"/>
                </a:solidFill>
                <a:latin typeface="Zen Maru Gothic Medium" pitchFamily="2" charset="-120"/>
                <a:ea typeface="Zen Maru Gothic Medium" pitchFamily="2" charset="-120"/>
              </a:rPr>
              <a:t>,</a:t>
            </a:r>
            <a:r>
              <a:rPr lang="zh-TW" altLang="en-US" sz="3200" b="1" spc="300" dirty="0">
                <a:solidFill>
                  <a:srgbClr val="492207"/>
                </a:solidFill>
                <a:latin typeface="Zen Maru Gothic Medium" pitchFamily="2" charset="-120"/>
                <a:ea typeface="Zen Maru Gothic Medium" pitchFamily="2" charset="-120"/>
              </a:rPr>
              <a:t>維持消化道機能</a:t>
            </a:r>
            <a:b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</a:b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  <a:cs typeface="+mn-cs"/>
              </a:rPr>
              <a:t>嚐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鮮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$90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/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團購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$95/</a:t>
            </a:r>
            <a:r>
              <a:rPr kumimoji="0" lang="zh-TW" altLang="en-US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原價</a:t>
            </a:r>
            <a:r>
              <a:rPr kumimoji="0" lang="en-US" altLang="zh-TW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$115</a:t>
            </a:r>
            <a:endParaRPr kumimoji="0" lang="zh-TW" altLang="en-US" sz="3200" b="1" i="0" u="none" strike="dblStrike" kern="1200" cap="none" spc="300" normalizeH="0" baseline="0" noProof="0" dirty="0">
              <a:ln>
                <a:noFill/>
              </a:ln>
              <a:solidFill>
                <a:srgbClr val="492207"/>
              </a:solidFill>
              <a:effectLst/>
              <a:uLnTx/>
              <a:uFillTx/>
              <a:latin typeface="Zen Maru Gothic Medium" pitchFamily="2" charset="-120"/>
              <a:ea typeface="Zen Maru Gothic Medium" pitchFamily="2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5F57E84-94BD-595B-83E4-FADC0CB05C0A}"/>
              </a:ext>
            </a:extLst>
          </p:cNvPr>
          <p:cNvSpPr txBox="1"/>
          <p:nvPr/>
        </p:nvSpPr>
        <p:spPr>
          <a:xfrm>
            <a:off x="2326397" y="11505801"/>
            <a:ext cx="6046848" cy="1947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微糖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含膳食纖維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.</a:t>
            </a:r>
            <a:r>
              <a:rPr kumimoji="0" lang="el-GR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β-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胡蘿蔔素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維生素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A.C.E.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鉀離子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.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鎂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</a:rPr>
              <a:t>及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鋅</a:t>
            </a:r>
            <a:endParaRPr kumimoji="0" lang="en-US" altLang="zh-TW" sz="3200" b="1" i="0" u="none" strike="noStrike" kern="1200" cap="none" spc="300" normalizeH="0" baseline="0" noProof="0" dirty="0">
              <a:ln>
                <a:noFill/>
              </a:ln>
              <a:solidFill>
                <a:srgbClr val="492207"/>
              </a:solidFill>
              <a:effectLst/>
              <a:uLnTx/>
              <a:uFillTx/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  <a:p>
            <a:pPr marL="0" marR="0" lvl="0" indent="0" algn="l" defTabSz="4572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jf open 粉圓 2.1" panose="020B0500000000000000" pitchFamily="34" charset="-120"/>
                <a:ea typeface="jf open 粉圓 2.1" panose="020B0500000000000000" pitchFamily="34" charset="-120"/>
                <a:cs typeface="+mn-cs"/>
              </a:rPr>
              <a:t>嚐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鮮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$90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/</a:t>
            </a:r>
            <a:r>
              <a:rPr kumimoji="0" lang="zh-TW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團購</a:t>
            </a:r>
            <a:r>
              <a:rPr kumimoji="0" lang="en-US" altLang="zh-TW" sz="3200" b="1" i="0" u="none" strike="no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$95/</a:t>
            </a:r>
            <a:r>
              <a:rPr kumimoji="0" lang="zh-TW" altLang="en-US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原價</a:t>
            </a:r>
            <a:r>
              <a:rPr kumimoji="0" lang="en-US" altLang="zh-TW" sz="3200" b="1" i="0" u="none" strike="dblStrike" kern="1200" cap="none" spc="300" normalizeH="0" baseline="0" noProof="0" dirty="0">
                <a:ln>
                  <a:noFill/>
                </a:ln>
                <a:solidFill>
                  <a:srgbClr val="492207"/>
                </a:solidFill>
                <a:effectLst/>
                <a:uLnTx/>
                <a:uFillTx/>
                <a:latin typeface="Zen Maru Gothic Medium" pitchFamily="2" charset="-120"/>
                <a:ea typeface="Zen Maru Gothic Medium" pitchFamily="2" charset="-120"/>
                <a:cs typeface="+mn-cs"/>
              </a:rPr>
              <a:t>$115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350477-3CCE-0201-8E49-9F8E94C7F046}"/>
              </a:ext>
            </a:extLst>
          </p:cNvPr>
          <p:cNvSpPr txBox="1"/>
          <p:nvPr/>
        </p:nvSpPr>
        <p:spPr>
          <a:xfrm>
            <a:off x="1847796" y="443903"/>
            <a:ext cx="7038182" cy="154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zh-TW" altLang="en-US" sz="4400" b="1" dirty="0">
                <a:solidFill>
                  <a:srgbClr val="492207"/>
                </a:solidFill>
                <a:latin typeface="Zen Maru Gothic Black" pitchFamily="2" charset="-120"/>
                <a:ea typeface="Zen Maru Gothic Black" pitchFamily="2" charset="-120"/>
              </a:rPr>
              <a:t>天天喝豆漿・元氣 </a:t>
            </a:r>
            <a:r>
              <a:rPr lang="en-US" altLang="zh-TW" sz="4400" b="1" dirty="0">
                <a:solidFill>
                  <a:srgbClr val="492207"/>
                </a:solidFill>
                <a:latin typeface="Zen Maru Gothic Black" pitchFamily="2" charset="-120"/>
                <a:ea typeface="Zen Maru Gothic Black" pitchFamily="2" charset="-120"/>
              </a:rPr>
              <a:t>UP</a:t>
            </a:r>
            <a:r>
              <a:rPr lang="zh-TW" altLang="en-US" sz="4400" b="1" dirty="0">
                <a:solidFill>
                  <a:srgbClr val="492207"/>
                </a:solidFill>
                <a:latin typeface="Zen Maru Gothic Black" pitchFamily="2" charset="-120"/>
                <a:ea typeface="Zen Maru Gothic Black" pitchFamily="2" charset="-120"/>
              </a:rPr>
              <a:t> </a:t>
            </a:r>
            <a:r>
              <a:rPr lang="en-US" altLang="zh-TW" sz="4400" b="1" dirty="0">
                <a:solidFill>
                  <a:srgbClr val="492207"/>
                </a:solidFill>
                <a:latin typeface="Zen Maru Gothic Black" pitchFamily="2" charset="-120"/>
                <a:ea typeface="Zen Maru Gothic Black" pitchFamily="2" charset="-120"/>
              </a:rPr>
              <a:t>!</a:t>
            </a:r>
          </a:p>
          <a:p>
            <a:pPr algn="ctr">
              <a:lnSpc>
                <a:spcPts val="45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任選商品，搭配豆漿最划算</a:t>
            </a:r>
            <a:endParaRPr lang="en-US" altLang="zh-TW" sz="3200" b="1" dirty="0">
              <a:solidFill>
                <a:srgbClr val="FF0000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2355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4863</TotalTime>
  <Words>195</Words>
  <Application>Microsoft Office PowerPoint</Application>
  <PresentationFormat>自訂</PresentationFormat>
  <Paragraphs>23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1" baseType="lpstr">
      <vt:lpstr>jf open 粉圓 2.1</vt:lpstr>
      <vt:lpstr>Zen Maru Gothic</vt:lpstr>
      <vt:lpstr>Zen Maru Gothic Black</vt:lpstr>
      <vt:lpstr>Zen Maru Gothic Medium</vt:lpstr>
      <vt:lpstr>標楷體</vt:lpstr>
      <vt:lpstr>Aptos</vt:lpstr>
      <vt:lpstr>Arial</vt:lpstr>
      <vt:lpstr>Calibri</vt:lpstr>
      <vt:lpstr>Calibri Light</vt:lpstr>
      <vt:lpstr>Office 2013 - 2022 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林信亨</dc:creator>
  <cp:lastModifiedBy>darh083</cp:lastModifiedBy>
  <cp:revision>271</cp:revision>
  <cp:lastPrinted>2025-10-17T04:25:54Z</cp:lastPrinted>
  <dcterms:created xsi:type="dcterms:W3CDTF">2024-12-09T10:06:58Z</dcterms:created>
  <dcterms:modified xsi:type="dcterms:W3CDTF">2025-10-28T13:24:55Z</dcterms:modified>
</cp:coreProperties>
</file>